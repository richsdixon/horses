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58" r:id="rId5"/>
    <p:sldId id="261" r:id="rId6"/>
    <p:sldId id="260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76" autoAdjust="0"/>
    <p:restoredTop sz="94660"/>
  </p:normalViewPr>
  <p:slideViewPr>
    <p:cSldViewPr snapToGrid="0">
      <p:cViewPr varScale="1">
        <p:scale>
          <a:sx n="53" d="100"/>
          <a:sy n="53" d="100"/>
        </p:scale>
        <p:origin x="131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44A954-ACA0-D534-A8BE-848E1D0E49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48030C9-4FCA-8F21-DFCA-FC9D25C9A3F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179F26-C304-78C0-8F60-9B68B9EA32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2380EB-ABCA-48C2-8C1E-8D7E01BB809D}" type="datetimeFigureOut">
              <a:rPr lang="en-GB" smtClean="0"/>
              <a:t>11/07/2026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17DB64-BCCD-D40E-3BB7-A1A3C78E87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B2FA17-1C3C-10E5-0DDA-6007A1BFF9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A5C205-3731-4788-A038-A267A9A922B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092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3F462E-B201-3184-B79C-0173F83A26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16D86E-C538-CD8B-B0C3-BA192C4C99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33856"/>
            <a:ext cx="10515600" cy="5510784"/>
          </a:xfrm>
        </p:spPr>
        <p:txBody>
          <a:bodyPr/>
          <a:lstStyle>
            <a:lvl1pPr>
              <a:lnSpc>
                <a:spcPct val="100000"/>
              </a:lnSpc>
              <a:spcAft>
                <a:spcPts val="600"/>
              </a:spcAft>
              <a:defRPr/>
            </a:lvl1pPr>
            <a:lvl2pPr>
              <a:lnSpc>
                <a:spcPct val="100000"/>
              </a:lnSpc>
              <a:spcAft>
                <a:spcPts val="600"/>
              </a:spcAft>
              <a:defRPr/>
            </a:lvl2pPr>
            <a:lvl3pPr>
              <a:lnSpc>
                <a:spcPct val="100000"/>
              </a:lnSpc>
              <a:spcAft>
                <a:spcPts val="600"/>
              </a:spcAft>
              <a:defRPr/>
            </a:lvl3pPr>
            <a:lvl4pPr>
              <a:lnSpc>
                <a:spcPct val="100000"/>
              </a:lnSpc>
              <a:spcAft>
                <a:spcPts val="600"/>
              </a:spcAft>
              <a:defRPr/>
            </a:lvl4pPr>
            <a:lvl5pPr>
              <a:lnSpc>
                <a:spcPct val="100000"/>
              </a:lnSpc>
              <a:spcAft>
                <a:spcPts val="600"/>
              </a:spcAft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008142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66145B-348C-074A-B504-3456D05EE2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0CA9F-E5EF-03E7-DF5F-3C5BD5BD8B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15655C-C308-6883-B881-9F71B3EDE2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2380EB-ABCA-48C2-8C1E-8D7E01BB809D}" type="datetimeFigureOut">
              <a:rPr lang="en-GB" smtClean="0"/>
              <a:t>11/07/2026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B8F7E7-2057-C3C5-E3F4-8BFCBEFE62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C16A4F-41C8-7324-4701-0E518E652D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A5C205-3731-4788-A038-A267A9A922B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14034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F8E151-7EDB-3AED-3D1A-59E14C5A89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E288C6-6E01-4CA1-8C6B-12530F87EEF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73D21D-4352-A3F2-60C8-97E93390EC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5CB2A5-A548-4DB4-FEDF-286AC67B38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2380EB-ABCA-48C2-8C1E-8D7E01BB809D}" type="datetimeFigureOut">
              <a:rPr lang="en-GB" smtClean="0"/>
              <a:t>11/07/2026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AEA185-FAAE-DEAA-7C15-0D17E034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4DC3C5-FC79-DB8E-B792-2F2FF9FCC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A5C205-3731-4788-A038-A267A9A922B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43351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25395E-EA0E-ED98-18A5-FE0A6D77C1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F148B6-1EA4-80BE-ED38-A25181C197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3379C72-5B65-EE3B-5026-6282A26DD4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2091E2-8614-F2A9-8786-F21C65AB06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4FA87D2-ED79-5100-2711-2F792C6BE2D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5016158-6335-77B7-1B79-BE62E57DC1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2380EB-ABCA-48C2-8C1E-8D7E01BB809D}" type="datetimeFigureOut">
              <a:rPr lang="en-GB" smtClean="0"/>
              <a:t>11/07/2026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B1D39A7-4376-8B02-F1EE-5666EA1B6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347CD29-C1E1-E536-E411-90174FE06C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A5C205-3731-4788-A038-A267A9A922B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0619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8A20CB-3F15-CFF8-B406-DD8EC03346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6CCE5B2-CCCD-16CA-F81C-627F7CB51F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2380EB-ABCA-48C2-8C1E-8D7E01BB809D}" type="datetimeFigureOut">
              <a:rPr lang="en-GB" smtClean="0"/>
              <a:t>11/07/2026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74870AD-E78B-5AE0-6570-EDD0092F45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0A16DB7-A90A-579D-5956-036C7F9FB0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A5C205-3731-4788-A038-A267A9A922B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15899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1BD299F-9E3A-E4B8-5D1E-98673613C7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2380EB-ABCA-48C2-8C1E-8D7E01BB809D}" type="datetimeFigureOut">
              <a:rPr lang="en-GB" smtClean="0"/>
              <a:t>11/07/2026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161D829-A696-1D81-CA45-BD7001D6B1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DE6FC6-89EE-2233-AFFB-125869ADC4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A5C205-3731-4788-A038-A267A9A922B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571713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19ECD1-4EED-08B3-BF74-FA47A61E58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F53570-68DF-D407-7118-2E68ED0498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3F8CAF-712F-5563-7D38-703180BF12D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5A1EB2-B3DE-767D-5DF2-0A8ED0DEA9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2380EB-ABCA-48C2-8C1E-8D7E01BB809D}" type="datetimeFigureOut">
              <a:rPr lang="en-GB" smtClean="0"/>
              <a:t>11/07/2026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2A6DCF-1547-085D-09FF-2F84D52BC6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0EE9B6-3220-C384-D750-96DB2A2F11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A5C205-3731-4788-A038-A267A9A922B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77682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4AE354-60BA-1C52-1653-282635554C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C84273E-7F87-5F34-3770-D4B8F53433B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7F46DA-D773-CEE5-0E51-D81BA4C67D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B6B3BD-B0FC-2FCF-34EA-6E081A4C0D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2380EB-ABCA-48C2-8C1E-8D7E01BB809D}" type="datetimeFigureOut">
              <a:rPr lang="en-GB" smtClean="0"/>
              <a:t>11/07/2026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B85AC3-E4D2-7CF2-0245-08562DA91E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2A9C808-A6AE-A2A0-7144-49C2B5D05E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A5C205-3731-4788-A038-A267A9A922B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821548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7A1DC-2D9F-4AC7-871F-BA784BC3B8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FFE053F-4378-6359-F57C-73B94B5AA3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1652AF-B593-F0E1-35B7-CAD945A375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2380EB-ABCA-48C2-8C1E-8D7E01BB809D}" type="datetimeFigureOut">
              <a:rPr lang="en-GB" smtClean="0"/>
              <a:t>11/07/2026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C420C7-BD08-4780-AE74-D010A6A8C9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1F850C-B23C-A277-7250-FCA2C3F023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A5C205-3731-4788-A038-A267A9A922B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629606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2341B27-8AC8-4E2F-94E8-303000CB604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8D56C6-7DED-18FF-8724-0D04CF3724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DA8D94-2476-ED25-812D-9C1B26FBB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2380EB-ABCA-48C2-8C1E-8D7E01BB809D}" type="datetimeFigureOut">
              <a:rPr lang="en-GB" smtClean="0"/>
              <a:t>11/07/2026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42C724-E6C5-9C48-203D-C63A54191A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CC42AE-7C8E-1536-9040-ECAD5E9425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A5C205-3731-4788-A038-A267A9A922B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42166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443B767-E1CC-EE9E-0F05-DA786EB687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573659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07ABC2-FC9F-AB41-5BB6-BDE37D0C0C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133856"/>
            <a:ext cx="10515600" cy="5043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F97A57-ED69-7F71-A3C2-F9A9C96639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62380EB-ABCA-48C2-8C1E-8D7E01BB809D}" type="datetimeFigureOut">
              <a:rPr lang="en-GB" smtClean="0"/>
              <a:t>11/07/2026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8166CD-8F25-AC07-F2A6-D4689F4C496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24575F-EFF3-C4BC-048E-7CB6CEC0F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4A5C205-3731-4788-A038-A267A9A922B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02837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bg1"/>
          </a:solidFill>
          <a:latin typeface="Roboto" panose="02000000000000000000" pitchFamily="2" charset="0"/>
          <a:ea typeface="Roboto" panose="02000000000000000000" pitchFamily="2" charset="0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richsdixon.github.io/horses/dildex.html#card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DBE564-ACC1-F6A2-2A41-D761ED30E3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976893"/>
          </a:xfrm>
        </p:spPr>
        <p:txBody>
          <a:bodyPr/>
          <a:lstStyle/>
          <a:p>
            <a:r>
              <a:rPr lang="en-GB" dirty="0"/>
              <a:t>DILDEX EXPLAINER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B15716-8754-11FE-131A-65A6F289B90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GB" sz="2800" dirty="0"/>
              <a:t>“Helping you lose money more easily you silly twat”™</a:t>
            </a:r>
          </a:p>
        </p:txBody>
      </p:sp>
    </p:spTree>
    <p:extLst>
      <p:ext uri="{BB962C8B-B14F-4D97-AF65-F5344CB8AC3E}">
        <p14:creationId xmlns:p14="http://schemas.microsoft.com/office/powerpoint/2010/main" val="21686343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52A26A-F974-59BA-1262-66552994A3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Basics: PRB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B88C8C-73CB-44AF-A39C-54A96ACC62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133856"/>
            <a:ext cx="6561921" cy="5043107"/>
          </a:xfrm>
        </p:spPr>
        <p:txBody>
          <a:bodyPr/>
          <a:lstStyle/>
          <a:p>
            <a:r>
              <a:rPr lang="en-GB" dirty="0"/>
              <a:t>Am using PRB as a basis for how we look at historical results</a:t>
            </a:r>
          </a:p>
          <a:p>
            <a:r>
              <a:rPr lang="en-GB" dirty="0"/>
              <a:t>Example here of 9 horses in a race</a:t>
            </a:r>
          </a:p>
          <a:p>
            <a:r>
              <a:rPr lang="en-GB" dirty="0"/>
              <a:t>Top horse = beat 8/8 rivals = 1</a:t>
            </a:r>
          </a:p>
          <a:p>
            <a:r>
              <a:rPr lang="en-GB" dirty="0"/>
              <a:t>5</a:t>
            </a:r>
            <a:r>
              <a:rPr lang="en-GB" baseline="30000" dirty="0"/>
              <a:t>th</a:t>
            </a:r>
            <a:r>
              <a:rPr lang="en-GB" dirty="0"/>
              <a:t> placed horse = beat 4/8 rivals = 0.5</a:t>
            </a:r>
          </a:p>
          <a:p>
            <a:endParaRPr lang="en-GB" dirty="0"/>
          </a:p>
          <a:p>
            <a:endParaRPr lang="en-GB" dirty="0"/>
          </a:p>
          <a:p>
            <a:r>
              <a:rPr lang="en-GB" dirty="0"/>
              <a:t>Also, example here of a 5-horse race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4ABC8B7-BC94-2312-5492-840E95B1C1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1186" y="1133856"/>
            <a:ext cx="3083282" cy="54354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92144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417E3C-73E9-14A0-E947-08B852B4DB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Using PRB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37B957-F2D3-AE3B-5CAF-6CFA035337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>
              <a:lnSpc>
                <a:spcPct val="120000"/>
              </a:lnSpc>
            </a:pPr>
            <a:r>
              <a:rPr lang="en-GB" dirty="0"/>
              <a:t>So, for any racing variables, we can look at the prior PRB and work out how it stacks up for that variable </a:t>
            </a:r>
          </a:p>
          <a:p>
            <a:pPr>
              <a:lnSpc>
                <a:spcPct val="120000"/>
              </a:lnSpc>
            </a:pPr>
            <a:r>
              <a:rPr lang="en-GB" dirty="0"/>
              <a:t>This could be </a:t>
            </a:r>
          </a:p>
          <a:p>
            <a:pPr lvl="1">
              <a:lnSpc>
                <a:spcPct val="120000"/>
              </a:lnSpc>
            </a:pPr>
            <a:r>
              <a:rPr lang="en-GB" dirty="0"/>
              <a:t>simply the horse’s prior average PRB</a:t>
            </a:r>
          </a:p>
          <a:p>
            <a:pPr lvl="1">
              <a:lnSpc>
                <a:spcPct val="120000"/>
              </a:lnSpc>
            </a:pPr>
            <a:r>
              <a:rPr lang="en-GB" dirty="0"/>
              <a:t>the average PRB for the history of the Jockey/Trainer that is riding/training this specific horse</a:t>
            </a:r>
          </a:p>
          <a:p>
            <a:pPr lvl="1">
              <a:lnSpc>
                <a:spcPct val="120000"/>
              </a:lnSpc>
            </a:pPr>
            <a:r>
              <a:rPr lang="en-GB" dirty="0"/>
              <a:t>the Jockey’s average PRB on that Course</a:t>
            </a:r>
          </a:p>
          <a:p>
            <a:pPr lvl="1">
              <a:lnSpc>
                <a:spcPct val="120000"/>
              </a:lnSpc>
            </a:pPr>
            <a:endParaRPr lang="en-GB" dirty="0"/>
          </a:p>
          <a:p>
            <a:pPr>
              <a:lnSpc>
                <a:spcPct val="120000"/>
              </a:lnSpc>
            </a:pPr>
            <a:r>
              <a:rPr lang="en-GB" dirty="0"/>
              <a:t>Basic Dildex = average PRB for all the variables that have been used</a:t>
            </a:r>
          </a:p>
          <a:p>
            <a:pPr>
              <a:lnSpc>
                <a:spcPct val="120000"/>
              </a:lnSpc>
            </a:pPr>
            <a:r>
              <a:rPr lang="en-GB" dirty="0"/>
              <a:t>However: I am also using weightings for each variable to see what is the optimal weighting such that the it produces the greatest improvement in the % of wins for the horse with the top Dildex compared to the average % of wins for horses</a:t>
            </a:r>
          </a:p>
          <a:p>
            <a:pPr lvl="1">
              <a:lnSpc>
                <a:spcPct val="120000"/>
              </a:lnSpc>
            </a:pPr>
            <a:r>
              <a:rPr lang="en-GB" dirty="0"/>
              <a:t>Will eventually look at profitability</a:t>
            </a:r>
          </a:p>
        </p:txBody>
      </p:sp>
    </p:spTree>
    <p:extLst>
      <p:ext uri="{BB962C8B-B14F-4D97-AF65-F5344CB8AC3E}">
        <p14:creationId xmlns:p14="http://schemas.microsoft.com/office/powerpoint/2010/main" val="25883817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B64C5B-BD97-F79D-7BC5-0222E16257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Which Variables?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448D6F-55B9-5E9A-458F-477BC6A2B2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33857"/>
            <a:ext cx="5257800" cy="3219202"/>
          </a:xfrm>
        </p:spPr>
        <p:txBody>
          <a:bodyPr>
            <a:normAutofit fontScale="92500" lnSpcReduction="20000"/>
          </a:bodyPr>
          <a:lstStyle/>
          <a:p>
            <a:r>
              <a:rPr lang="en-GB" dirty="0"/>
              <a:t>Horse</a:t>
            </a:r>
          </a:p>
          <a:p>
            <a:r>
              <a:rPr lang="en-GB" dirty="0"/>
              <a:t>Trainer + Jockey</a:t>
            </a:r>
          </a:p>
          <a:p>
            <a:r>
              <a:rPr lang="en-GB" dirty="0"/>
              <a:t>Jockey + Course</a:t>
            </a:r>
          </a:p>
          <a:p>
            <a:r>
              <a:rPr lang="en-GB" dirty="0"/>
              <a:t>Jockey + Race Length (grouped)</a:t>
            </a:r>
          </a:p>
          <a:p>
            <a:r>
              <a:rPr lang="en-GB" dirty="0"/>
              <a:t>Trainer + Race Length</a:t>
            </a:r>
          </a:p>
          <a:p>
            <a:r>
              <a:rPr lang="en-GB" dirty="0"/>
              <a:t>Trainer + Course</a:t>
            </a:r>
          </a:p>
          <a:p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9781AB4-1728-7824-5F14-9F4E84BD54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410" y="4353059"/>
            <a:ext cx="11777986" cy="2332015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4B01332-1F9E-B8E4-C8A6-839FCF3CE08A}"/>
              </a:ext>
            </a:extLst>
          </p:cNvPr>
          <p:cNvSpPr txBox="1">
            <a:spLocks/>
          </p:cNvSpPr>
          <p:nvPr/>
        </p:nvSpPr>
        <p:spPr>
          <a:xfrm>
            <a:off x="6119403" y="1133857"/>
            <a:ext cx="5257800" cy="3219202"/>
          </a:xfrm>
          <a:prstGeom prst="rect">
            <a:avLst/>
          </a:prstGeom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en-GB" dirty="0"/>
              <a:t>This is just a first pass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en-GB" dirty="0"/>
              <a:t>Chart below shows how the elements of the Dildex are weighed to maximum “Top Dildex Win Percentage”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en-GB" dirty="0"/>
              <a:t>Aim is to tinker with variables to increase the yellow Win Uplift / Place Uplift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en-GB" dirty="0"/>
              <a:t>Currently the data is taking the whole horse / trainer / jockey history: ability also to just limit this to last 30/60/90/365 days etc.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696396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ABDAF80A-0096-AB94-3D69-98D6AEA5D1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198" y="938784"/>
            <a:ext cx="10515601" cy="583938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8300EBB-BD3B-1C32-B60E-6029ECAFC9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Dildex Score: Currently Between 0 and 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BC83B81-0436-1027-CAA6-02F316013212}"/>
              </a:ext>
            </a:extLst>
          </p:cNvPr>
          <p:cNvSpPr txBox="1"/>
          <p:nvPr/>
        </p:nvSpPr>
        <p:spPr>
          <a:xfrm>
            <a:off x="1622738" y="4275786"/>
            <a:ext cx="596509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>
                <a:latin typeface="Roboto" panose="02000000000000000000" pitchFamily="2" charset="0"/>
                <a:ea typeface="Roboto" panose="02000000000000000000" pitchFamily="2" charset="0"/>
              </a:rPr>
              <a:t>Can see how the % of </a:t>
            </a:r>
            <a:r>
              <a:rPr lang="en-GB" sz="1600" b="1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places</a:t>
            </a:r>
            <a:r>
              <a:rPr lang="en-GB" sz="1600" dirty="0">
                <a:latin typeface="Roboto" panose="02000000000000000000" pitchFamily="2" charset="0"/>
                <a:ea typeface="Roboto" panose="02000000000000000000" pitchFamily="2" charset="0"/>
              </a:rPr>
              <a:t> / </a:t>
            </a:r>
            <a:r>
              <a:rPr lang="en-GB" sz="1600" b="1" dirty="0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wins</a:t>
            </a:r>
            <a:r>
              <a:rPr lang="en-GB" sz="1600" dirty="0">
                <a:latin typeface="Roboto" panose="02000000000000000000" pitchFamily="2" charset="0"/>
                <a:ea typeface="Roboto" panose="02000000000000000000" pitchFamily="2" charset="0"/>
              </a:rPr>
              <a:t> increases with Dildex value </a:t>
            </a:r>
          </a:p>
        </p:txBody>
      </p:sp>
    </p:spTree>
    <p:extLst>
      <p:ext uri="{BB962C8B-B14F-4D97-AF65-F5344CB8AC3E}">
        <p14:creationId xmlns:p14="http://schemas.microsoft.com/office/powerpoint/2010/main" val="3588839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B46283-8D98-447F-8278-8F1B6BBFA1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Dildex Racecard: </a:t>
            </a:r>
            <a:r>
              <a:rPr lang="en-GB" sz="2000" dirty="0">
                <a:hlinkClick r:id="rId2"/>
              </a:rPr>
              <a:t>https://richsdixon.github.io/horses/dildex.html#card</a:t>
            </a:r>
            <a:r>
              <a:rPr lang="en-GB" sz="2000" dirty="0"/>
              <a:t> </a:t>
            </a:r>
            <a:endParaRPr lang="en-GB" sz="1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D8CFB2-61D3-B962-4351-725502866C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133856"/>
            <a:ext cx="5049485" cy="5043107"/>
          </a:xfrm>
        </p:spPr>
        <p:txBody>
          <a:bodyPr/>
          <a:lstStyle/>
          <a:p>
            <a:r>
              <a:rPr lang="en-GB" dirty="0"/>
              <a:t>First-pass Dildex example</a:t>
            </a:r>
          </a:p>
          <a:p>
            <a:r>
              <a:rPr lang="en-GB" dirty="0"/>
              <a:t>Will also add to this with some more subjective standard detail</a:t>
            </a:r>
          </a:p>
          <a:p>
            <a:r>
              <a:rPr lang="en-GB" dirty="0"/>
              <a:t>Form (more recent races count)</a:t>
            </a:r>
          </a:p>
          <a:p>
            <a:r>
              <a:rPr lang="en-GB" dirty="0"/>
              <a:t>Course/Distance prior wins</a:t>
            </a:r>
          </a:p>
          <a:p>
            <a:r>
              <a:rPr lang="en-GB" dirty="0"/>
              <a:t>Days since last race</a:t>
            </a:r>
          </a:p>
          <a:p>
            <a:r>
              <a:rPr lang="en-GB" dirty="0"/>
              <a:t>Etc.</a:t>
            </a:r>
          </a:p>
          <a:p>
            <a:endParaRPr lang="en-GB" dirty="0"/>
          </a:p>
          <a:p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C913DD6-023D-15D8-2EC6-326569E0CC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7684" y="1747398"/>
            <a:ext cx="5853268" cy="336320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DF1CF6B-9720-D2FE-D825-A5597C8973DF}"/>
              </a:ext>
            </a:extLst>
          </p:cNvPr>
          <p:cNvSpPr txBox="1"/>
          <p:nvPr/>
        </p:nvSpPr>
        <p:spPr>
          <a:xfrm>
            <a:off x="5385407" y="5319051"/>
            <a:ext cx="651467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Racecard has ability to filter on the Dildex percentile for that race class (i.e. find those with some decent historical stats for that horse / jockey / course etc.)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Also, a check-box to pick out the highest Dildex ranked horse</a:t>
            </a:r>
          </a:p>
        </p:txBody>
      </p:sp>
    </p:spTree>
    <p:extLst>
      <p:ext uri="{BB962C8B-B14F-4D97-AF65-F5344CB8AC3E}">
        <p14:creationId xmlns:p14="http://schemas.microsoft.com/office/powerpoint/2010/main" val="6064751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1199</TotalTime>
  <Words>395</Words>
  <Application>Microsoft Office PowerPoint</Application>
  <PresentationFormat>Widescreen</PresentationFormat>
  <Paragraphs>42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Arial</vt:lpstr>
      <vt:lpstr>Roboto</vt:lpstr>
      <vt:lpstr>Office Theme</vt:lpstr>
      <vt:lpstr>DILDEX EXPLAINER</vt:lpstr>
      <vt:lpstr>Basics: PRB</vt:lpstr>
      <vt:lpstr>Using PRB</vt:lpstr>
      <vt:lpstr>Which Variables?</vt:lpstr>
      <vt:lpstr>Dildex Score: Currently Between 0 and 1</vt:lpstr>
      <vt:lpstr>Dildex Racecard: https://richsdixon.github.io/horses/dildex.html#card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Richard Dixon</dc:creator>
  <cp:lastModifiedBy>Richard Dixon</cp:lastModifiedBy>
  <cp:revision>4</cp:revision>
  <dcterms:created xsi:type="dcterms:W3CDTF">2026-07-05T13:48:41Z</dcterms:created>
  <dcterms:modified xsi:type="dcterms:W3CDTF">2026-07-11T07:28:27Z</dcterms:modified>
</cp:coreProperties>
</file>