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4A954-ACA0-D534-A8BE-848E1D0E4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8030C9-4FCA-8F21-DFCA-FC9D25C9A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79F26-C304-78C0-8F60-9B68B9EA3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380EB-ABCA-48C2-8C1E-8D7E01BB809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7DB64-BCCD-D40E-3BB7-A1A3C78E8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2FA17-1C3C-10E5-0DDA-6007A1BFF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5C205-3731-4788-A038-A267A9A92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09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F462E-B201-3184-B79C-0173F83A2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6D86E-C538-CD8B-B0C3-BA192C4C9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3856"/>
            <a:ext cx="10515600" cy="5510784"/>
          </a:xfrm>
        </p:spPr>
        <p:txBody>
          <a:bodyPr/>
          <a:lstStyle>
            <a:lvl1pPr>
              <a:lnSpc>
                <a:spcPct val="100000"/>
              </a:lnSpc>
              <a:spcAft>
                <a:spcPts val="600"/>
              </a:spcAft>
              <a:defRPr/>
            </a:lvl1pPr>
            <a:lvl2pPr>
              <a:lnSpc>
                <a:spcPct val="100000"/>
              </a:lnSpc>
              <a:spcAft>
                <a:spcPts val="600"/>
              </a:spcAft>
              <a:defRPr/>
            </a:lvl2pPr>
            <a:lvl3pPr>
              <a:lnSpc>
                <a:spcPct val="100000"/>
              </a:lnSpc>
              <a:spcAft>
                <a:spcPts val="600"/>
              </a:spcAft>
              <a:defRPr/>
            </a:lvl3pPr>
            <a:lvl4pPr>
              <a:lnSpc>
                <a:spcPct val="100000"/>
              </a:lnSpc>
              <a:spcAft>
                <a:spcPts val="600"/>
              </a:spcAft>
              <a:defRPr/>
            </a:lvl4pPr>
            <a:lvl5pPr>
              <a:lnSpc>
                <a:spcPct val="100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0814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6145B-348C-074A-B504-3456D05EE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0CA9F-E5EF-03E7-DF5F-3C5BD5BD8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5655C-C308-6883-B881-9F71B3EDE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380EB-ABCA-48C2-8C1E-8D7E01BB809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8F7E7-2057-C3C5-E3F4-8BFCBEFE6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16A4F-41C8-7324-4701-0E518E652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5C205-3731-4788-A038-A267A9A92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403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8E151-7EDB-3AED-3D1A-59E14C5A8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288C6-6E01-4CA1-8C6B-12530F87EE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73D21D-4352-A3F2-60C8-97E93390E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CB2A5-A548-4DB4-FEDF-286AC67B3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380EB-ABCA-48C2-8C1E-8D7E01BB809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EA185-FAAE-DEAA-7C15-0D17E034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DC3C5-FC79-DB8E-B792-2F2FF9FCC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5C205-3731-4788-A038-A267A9A92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4335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5395E-EA0E-ED98-18A5-FE0A6D77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148B6-1EA4-80BE-ED38-A25181C19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79C72-5B65-EE3B-5026-6282A26DD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2091E2-8614-F2A9-8786-F21C65AB06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A87D2-ED79-5100-2711-2F792C6BE2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016158-6335-77B7-1B79-BE62E57DC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380EB-ABCA-48C2-8C1E-8D7E01BB809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1D39A7-4376-8B02-F1EE-5666EA1B6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47CD29-C1E1-E536-E411-90174FE0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5C205-3731-4788-A038-A267A9A92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6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A20CB-3F15-CFF8-B406-DD8EC0334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CCE5B2-CCCD-16CA-F81C-627F7CB51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380EB-ABCA-48C2-8C1E-8D7E01BB809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4870AD-E78B-5AE0-6570-EDD0092F4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16DB7-A90A-579D-5956-036C7F9FB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5C205-3731-4788-A038-A267A9A92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589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BD299F-9E3A-E4B8-5D1E-98673613C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380EB-ABCA-48C2-8C1E-8D7E01BB809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1D829-A696-1D81-CA45-BD7001D6B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E6FC6-89EE-2233-AFFB-125869ADC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5C205-3731-4788-A038-A267A9A92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171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9ECD1-4EED-08B3-BF74-FA47A61E5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53570-68DF-D407-7118-2E68ED049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3F8CAF-712F-5563-7D38-703180BF1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A1EB2-B3DE-767D-5DF2-0A8ED0DEA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380EB-ABCA-48C2-8C1E-8D7E01BB809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2A6DCF-1547-085D-09FF-2F84D52BC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0EE9B6-3220-C384-D750-96DB2A2F1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5C205-3731-4788-A038-A267A9A92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776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AE354-60BA-1C52-1653-282635554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84273E-7F87-5F34-3770-D4B8F5343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F46DA-D773-CEE5-0E51-D81BA4C67D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6B3BD-B0FC-2FCF-34EA-6E081A4C0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380EB-ABCA-48C2-8C1E-8D7E01BB809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85AC3-E4D2-7CF2-0245-08562DA91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9C808-A6AE-A2A0-7144-49C2B5D05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5C205-3731-4788-A038-A267A9A92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2154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7A1DC-2D9F-4AC7-871F-BA784BC3B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FE053F-4378-6359-F57C-73B94B5AA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652AF-B593-F0E1-35B7-CAD945A37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380EB-ABCA-48C2-8C1E-8D7E01BB809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420C7-BD08-4780-AE74-D010A6A8C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F850C-B23C-A277-7250-FCA2C3F02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5C205-3731-4788-A038-A267A9A92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2960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341B27-8AC8-4E2F-94E8-303000CB6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8D56C6-7DED-18FF-8724-0D04CF372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A8D94-2476-ED25-812D-9C1B26FBB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380EB-ABCA-48C2-8C1E-8D7E01BB809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2C724-E6C5-9C48-203D-C63A54191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C42AE-7C8E-1536-9040-ECAD5E942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5C205-3731-4788-A038-A267A9A92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216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43B767-E1CC-EE9E-0F05-DA786EB6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3659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7ABC2-FC9F-AB41-5BB6-BDE37D0C0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33856"/>
            <a:ext cx="10515600" cy="5043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97A57-ED69-7F71-A3C2-F9A9C9663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380EB-ABCA-48C2-8C1E-8D7E01BB809D}" type="datetimeFigureOut">
              <a:rPr lang="en-GB" smtClean="0"/>
              <a:t>28/07/2026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166CD-8F25-AC07-F2A6-D4689F4C49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4575F-EFF3-C4BC-048E-7CB6CEC0F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A5C205-3731-4788-A038-A267A9A922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028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richsdixon.github.io/horses/dildex.html#card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richsdixon.github.io/horses/dildex.html#car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E564-ACC1-F6A2-2A41-D761ED30E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76893"/>
          </a:xfrm>
        </p:spPr>
        <p:txBody>
          <a:bodyPr/>
          <a:lstStyle/>
          <a:p>
            <a:r>
              <a:rPr lang="en-GB" dirty="0"/>
              <a:t>DILDEX EXPLAINER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15716-8754-11FE-131A-65A6F289B9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“Helping you lose money more easily you silly twat”™</a:t>
            </a:r>
          </a:p>
        </p:txBody>
      </p:sp>
    </p:spTree>
    <p:extLst>
      <p:ext uri="{BB962C8B-B14F-4D97-AF65-F5344CB8AC3E}">
        <p14:creationId xmlns:p14="http://schemas.microsoft.com/office/powerpoint/2010/main" val="2168634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2A26A-F974-59BA-1262-66552994A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Basics: PRB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88C8C-73CB-44AF-A39C-54A96ACC6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33856"/>
            <a:ext cx="6561921" cy="5043107"/>
          </a:xfrm>
        </p:spPr>
        <p:txBody>
          <a:bodyPr/>
          <a:lstStyle/>
          <a:p>
            <a:r>
              <a:rPr lang="en-GB" dirty="0"/>
              <a:t>Am using PRB as a basis for how we look at historical results</a:t>
            </a:r>
          </a:p>
          <a:p>
            <a:r>
              <a:rPr lang="en-GB" dirty="0"/>
              <a:t>Example here of 9 horses in a race</a:t>
            </a:r>
          </a:p>
          <a:p>
            <a:r>
              <a:rPr lang="en-GB" dirty="0"/>
              <a:t>Top horse = beat 8/8 rivals = 1</a:t>
            </a:r>
          </a:p>
          <a:p>
            <a:r>
              <a:rPr lang="en-GB" dirty="0"/>
              <a:t>5</a:t>
            </a:r>
            <a:r>
              <a:rPr lang="en-GB" baseline="30000" dirty="0"/>
              <a:t>th</a:t>
            </a:r>
            <a:r>
              <a:rPr lang="en-GB" dirty="0"/>
              <a:t> placed horse = beat 4/8 rivals = 0.5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Also, example here of a 5-horse race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ABC8B7-BC94-2312-5492-840E95B1C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186" y="1133856"/>
            <a:ext cx="3083282" cy="543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214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17E3C-73E9-14A0-E947-08B852B4D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PRB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7B957-F2D3-AE3B-5CAF-6CFA03533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GB" dirty="0"/>
              <a:t>So, for any racing variables, we can look at the prior PRB and work out how it stacks up for that variable </a:t>
            </a:r>
          </a:p>
          <a:p>
            <a:pPr>
              <a:lnSpc>
                <a:spcPct val="120000"/>
              </a:lnSpc>
            </a:pPr>
            <a:r>
              <a:rPr lang="en-GB" dirty="0"/>
              <a:t>This could be 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simply the horse’s prior average PRB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the average PRB for the history of the Jockey/Trainer that is riding/training this specific horse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the Jockey’s average PRB on that Course</a:t>
            </a:r>
          </a:p>
          <a:p>
            <a:pPr lvl="1">
              <a:lnSpc>
                <a:spcPct val="120000"/>
              </a:lnSpc>
            </a:pPr>
            <a:endParaRPr lang="en-GB" dirty="0"/>
          </a:p>
          <a:p>
            <a:pPr>
              <a:lnSpc>
                <a:spcPct val="120000"/>
              </a:lnSpc>
            </a:pPr>
            <a:r>
              <a:rPr lang="en-GB" dirty="0"/>
              <a:t>Basic Dildex = average PRB for all the variables that have been used</a:t>
            </a:r>
          </a:p>
          <a:p>
            <a:pPr>
              <a:lnSpc>
                <a:spcPct val="120000"/>
              </a:lnSpc>
            </a:pPr>
            <a:r>
              <a:rPr lang="en-GB" dirty="0"/>
              <a:t>However: I am also using weightings for each variable to see what is the optimal weighting such that the it produces the greatest improvement in the % of wins for the horse with the top Dildex compared to the average % of wins for horses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Will eventually look at profitability</a:t>
            </a:r>
          </a:p>
        </p:txBody>
      </p:sp>
    </p:spTree>
    <p:extLst>
      <p:ext uri="{BB962C8B-B14F-4D97-AF65-F5344CB8AC3E}">
        <p14:creationId xmlns:p14="http://schemas.microsoft.com/office/powerpoint/2010/main" val="2588381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64C5B-BD97-F79D-7BC5-0222E1625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Which Variables?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48D6F-55B9-5E9A-458F-477BC6A2B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3857"/>
            <a:ext cx="5257800" cy="3219202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Horse</a:t>
            </a:r>
          </a:p>
          <a:p>
            <a:r>
              <a:rPr lang="en-GB" dirty="0"/>
              <a:t>Trainer + Jockey</a:t>
            </a:r>
          </a:p>
          <a:p>
            <a:r>
              <a:rPr lang="en-GB" dirty="0"/>
              <a:t>Jockey + Course</a:t>
            </a:r>
          </a:p>
          <a:p>
            <a:r>
              <a:rPr lang="en-GB" dirty="0"/>
              <a:t>Jockey + Race Length (grouped)</a:t>
            </a:r>
          </a:p>
          <a:p>
            <a:r>
              <a:rPr lang="en-GB" dirty="0"/>
              <a:t>Trainer + Race Length</a:t>
            </a:r>
          </a:p>
          <a:p>
            <a:r>
              <a:rPr lang="en-GB" dirty="0"/>
              <a:t>Trainer + Course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781AB4-1728-7824-5F14-9F4E84BD5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10" y="4353059"/>
            <a:ext cx="11777986" cy="233201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B01332-1F9E-B8E4-C8A6-839FCF3CE08A}"/>
              </a:ext>
            </a:extLst>
          </p:cNvPr>
          <p:cNvSpPr txBox="1">
            <a:spLocks/>
          </p:cNvSpPr>
          <p:nvPr/>
        </p:nvSpPr>
        <p:spPr>
          <a:xfrm>
            <a:off x="6119403" y="1133857"/>
            <a:ext cx="5257800" cy="321920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GB" dirty="0"/>
              <a:t>This is just a first pass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GB" dirty="0"/>
              <a:t>Chart below shows how the elements of the Dildex are weighed to maximum “Top Dildex Win Percentage”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GB" dirty="0"/>
              <a:t>Aim is to tinker with variables to increase the yellow Win Uplift / Place Uplift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GB" dirty="0"/>
              <a:t>Currently the data is taking the whole horse / trainer / jockey history: ability also to just limit this to last 30/60/90/365 days etc.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9639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BDAF80A-0096-AB94-3D69-98D6AEA5D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938784"/>
            <a:ext cx="10515601" cy="58393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300EBB-BD3B-1C32-B60E-6029ECAFC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Dildex Score: Currently Between 0 and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C83B81-0436-1027-CAA6-02F316013212}"/>
              </a:ext>
            </a:extLst>
          </p:cNvPr>
          <p:cNvSpPr txBox="1"/>
          <p:nvPr/>
        </p:nvSpPr>
        <p:spPr>
          <a:xfrm>
            <a:off x="1622738" y="4275786"/>
            <a:ext cx="59650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</a:rPr>
              <a:t>Can see how the % of </a:t>
            </a:r>
            <a:r>
              <a:rPr lang="en-GB" sz="16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places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</a:rPr>
              <a:t> / </a:t>
            </a:r>
            <a:r>
              <a:rPr lang="en-GB" sz="16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wins</a:t>
            </a:r>
            <a:r>
              <a:rPr lang="en-GB" sz="1600" dirty="0">
                <a:latin typeface="Roboto" panose="02000000000000000000" pitchFamily="2" charset="0"/>
                <a:ea typeface="Roboto" panose="02000000000000000000" pitchFamily="2" charset="0"/>
              </a:rPr>
              <a:t> increases with Dildex value </a:t>
            </a:r>
          </a:p>
        </p:txBody>
      </p:sp>
    </p:spTree>
    <p:extLst>
      <p:ext uri="{BB962C8B-B14F-4D97-AF65-F5344CB8AC3E}">
        <p14:creationId xmlns:p14="http://schemas.microsoft.com/office/powerpoint/2010/main" val="358883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46283-8D98-447F-8278-8F1B6BBFA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Dildex Racecard: </a:t>
            </a:r>
            <a:r>
              <a:rPr lang="en-GB" sz="2000" dirty="0">
                <a:hlinkClick r:id="rId2"/>
              </a:rPr>
              <a:t>https://richsdixon.github.io/horses/dildex.html#card</a:t>
            </a:r>
            <a:r>
              <a:rPr lang="en-GB" sz="2000" dirty="0"/>
              <a:t> </a:t>
            </a:r>
            <a:endParaRPr lang="en-GB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8CFB2-61D3-B962-4351-725502866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33856"/>
            <a:ext cx="4401313" cy="5724144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First-pass Dildex example</a:t>
            </a:r>
          </a:p>
          <a:p>
            <a:r>
              <a:rPr lang="en-GB" dirty="0"/>
              <a:t>The % column is the percentile value of the Dildex for that horse’s ante-post price</a:t>
            </a:r>
          </a:p>
          <a:p>
            <a:pPr lvl="1"/>
            <a:r>
              <a:rPr lang="en-GB" dirty="0"/>
              <a:t>Higher values = rare high values for that horse’s ante-post price</a:t>
            </a:r>
          </a:p>
          <a:p>
            <a:r>
              <a:rPr lang="en-GB" dirty="0"/>
              <a:t>Will also add to this with some more subjective standard detail</a:t>
            </a:r>
          </a:p>
          <a:p>
            <a:r>
              <a:rPr lang="en-GB" dirty="0"/>
              <a:t>Form (more recent races count)</a:t>
            </a:r>
          </a:p>
          <a:p>
            <a:r>
              <a:rPr lang="en-GB" dirty="0"/>
              <a:t>Course/Distance prior wins</a:t>
            </a:r>
          </a:p>
          <a:p>
            <a:r>
              <a:rPr lang="en-GB" dirty="0"/>
              <a:t>Days since last race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F1CF6B-9720-D2FE-D825-A5597C8973DF}"/>
              </a:ext>
            </a:extLst>
          </p:cNvPr>
          <p:cNvSpPr txBox="1"/>
          <p:nvPr/>
        </p:nvSpPr>
        <p:spPr>
          <a:xfrm>
            <a:off x="5305968" y="4688356"/>
            <a:ext cx="65146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PC </a:t>
            </a:r>
            <a:r>
              <a:rPr lang="en-GB" dirty="0"/>
              <a:t>– place chance (Places/Runners)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#</a:t>
            </a:r>
            <a:r>
              <a:rPr lang="en-GB" dirty="0"/>
              <a:t> - race count,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C</a:t>
            </a:r>
            <a:r>
              <a:rPr lang="en-GB" dirty="0"/>
              <a:t> = Course Win, </a:t>
            </a:r>
            <a:r>
              <a:rPr lang="en-GB" b="1" dirty="0"/>
              <a:t>D</a:t>
            </a:r>
            <a:r>
              <a:rPr lang="en-GB" dirty="0"/>
              <a:t>=</a:t>
            </a:r>
            <a:r>
              <a:rPr lang="en-GB" dirty="0" err="1"/>
              <a:t>Dist</a:t>
            </a:r>
            <a:r>
              <a:rPr lang="en-GB" dirty="0"/>
              <a:t> win,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%</a:t>
            </a:r>
            <a:r>
              <a:rPr lang="en-GB" dirty="0"/>
              <a:t> = Dildex percentile for price,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DR</a:t>
            </a:r>
            <a:r>
              <a:rPr lang="en-GB" dirty="0"/>
              <a:t> = Dildex Rank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E74620-22E8-473B-5AD7-79C31F4D6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406" y="1214628"/>
            <a:ext cx="6355794" cy="319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475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79B03-34C6-40F9-204E-1A167C704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6996E-AF25-73CE-A010-BBF2BD463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Dildex Racecard: </a:t>
            </a:r>
            <a:r>
              <a:rPr lang="en-GB" sz="2000" dirty="0">
                <a:hlinkClick r:id="rId2"/>
              </a:rPr>
              <a:t>https://richsdixon.github.io/horses/dildex.html#card</a:t>
            </a:r>
            <a:r>
              <a:rPr lang="en-GB" sz="2000" dirty="0"/>
              <a:t> </a:t>
            </a:r>
            <a:endParaRPr lang="en-GB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9DE35-F3A9-9B05-D0E2-B7F07DDCA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33856"/>
            <a:ext cx="4251037" cy="5043107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solidFill>
                  <a:srgbClr val="FF0000"/>
                </a:solidFill>
              </a:rPr>
              <a:t>These data </a:t>
            </a:r>
            <a:r>
              <a:rPr lang="en-GB" dirty="0"/>
              <a:t>are using the average PRB and count of races to predict the chance of a place using</a:t>
            </a:r>
          </a:p>
          <a:p>
            <a:pPr lvl="1"/>
            <a:r>
              <a:rPr lang="en-GB" dirty="0"/>
              <a:t>The horse</a:t>
            </a:r>
          </a:p>
          <a:p>
            <a:pPr lvl="1"/>
            <a:r>
              <a:rPr lang="en-GB" dirty="0"/>
              <a:t>The jockey/trainer combo</a:t>
            </a:r>
          </a:p>
          <a:p>
            <a:r>
              <a:rPr lang="en-GB" dirty="0"/>
              <a:t>Just another additional data point to sit alongside the Dildex</a:t>
            </a:r>
          </a:p>
          <a:p>
            <a:r>
              <a:rPr lang="en-GB" dirty="0"/>
              <a:t>Needs a lot of work though 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46119F-D44E-F517-A318-521360A1A8FD}"/>
              </a:ext>
            </a:extLst>
          </p:cNvPr>
          <p:cNvSpPr txBox="1"/>
          <p:nvPr/>
        </p:nvSpPr>
        <p:spPr>
          <a:xfrm>
            <a:off x="5226529" y="4699635"/>
            <a:ext cx="65146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Racecard has ability to filter on the Dildex percentile for that race class (i.e. find those with some decent historical stats for that horse / jockey / course etc.)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Can also filter on “Place Chance”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Also, a check-box to pick out the highest Dildex ranked horse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7ACCEA-4453-D75D-E918-95F67192E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406" y="1189331"/>
            <a:ext cx="6355794" cy="319788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7632A9-E428-7409-A2CF-3FE72599B1FF}"/>
              </a:ext>
            </a:extLst>
          </p:cNvPr>
          <p:cNvSpPr/>
          <p:nvPr/>
        </p:nvSpPr>
        <p:spPr>
          <a:xfrm>
            <a:off x="10735055" y="3063850"/>
            <a:ext cx="1006145" cy="132336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078DAE8-2A96-18AC-DA20-F7B7EA00D9B7}"/>
              </a:ext>
            </a:extLst>
          </p:cNvPr>
          <p:cNvSpPr/>
          <p:nvPr/>
        </p:nvSpPr>
        <p:spPr>
          <a:xfrm>
            <a:off x="5249325" y="2983345"/>
            <a:ext cx="447387" cy="2164727"/>
          </a:xfrm>
          <a:custGeom>
            <a:avLst/>
            <a:gdLst>
              <a:gd name="csX0" fmla="*/ 447387 w 447387"/>
              <a:gd name="csY0" fmla="*/ 1911941 h 1911941"/>
              <a:gd name="csX1" fmla="*/ 127347 w 447387"/>
              <a:gd name="csY1" fmla="*/ 1573613 h 1911941"/>
              <a:gd name="csX2" fmla="*/ 8475 w 447387"/>
              <a:gd name="csY2" fmla="*/ 741509 h 1911941"/>
              <a:gd name="csX3" fmla="*/ 26763 w 447387"/>
              <a:gd name="csY3" fmla="*/ 92285 h 1911941"/>
              <a:gd name="csX4" fmla="*/ 163923 w 447387"/>
              <a:gd name="csY4" fmla="*/ 19133 h 19119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7387" h="1911941">
                <a:moveTo>
                  <a:pt x="447387" y="1911941"/>
                </a:moveTo>
                <a:cubicBezTo>
                  <a:pt x="323943" y="1840313"/>
                  <a:pt x="200499" y="1768685"/>
                  <a:pt x="127347" y="1573613"/>
                </a:cubicBezTo>
                <a:cubicBezTo>
                  <a:pt x="54195" y="1378541"/>
                  <a:pt x="25239" y="988397"/>
                  <a:pt x="8475" y="741509"/>
                </a:cubicBezTo>
                <a:cubicBezTo>
                  <a:pt x="-8289" y="494621"/>
                  <a:pt x="855" y="212681"/>
                  <a:pt x="26763" y="92285"/>
                </a:cubicBezTo>
                <a:cubicBezTo>
                  <a:pt x="52671" y="-28111"/>
                  <a:pt x="108297" y="-4489"/>
                  <a:pt x="163923" y="19133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34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1227</TotalTime>
  <Words>522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Roboto</vt:lpstr>
      <vt:lpstr>Office Theme</vt:lpstr>
      <vt:lpstr>DILDEX EXPLAINER</vt:lpstr>
      <vt:lpstr>Basics: PRB</vt:lpstr>
      <vt:lpstr>Using PRB</vt:lpstr>
      <vt:lpstr>Which Variables?</vt:lpstr>
      <vt:lpstr>Dildex Score: Currently Between 0 and 1</vt:lpstr>
      <vt:lpstr>Dildex Racecard: https://richsdixon.github.io/horses/dildex.html#card </vt:lpstr>
      <vt:lpstr>Dildex Racecard: https://richsdixon.github.io/horses/dildex.html#card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Dixon</dc:creator>
  <cp:lastModifiedBy>Richard Dixon</cp:lastModifiedBy>
  <cp:revision>7</cp:revision>
  <dcterms:created xsi:type="dcterms:W3CDTF">2026-07-05T13:48:41Z</dcterms:created>
  <dcterms:modified xsi:type="dcterms:W3CDTF">2026-07-28T11:33:23Z</dcterms:modified>
</cp:coreProperties>
</file>